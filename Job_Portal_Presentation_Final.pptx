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486400"/>
            <a:ext cx="9144000" cy="137160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JOB PORTAL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CADCFC"/>
                </a:solidFill>
              </a:defRPr>
            </a:pPr>
            <a:r>
              <a:t>Technology Stack &amp; Architecture Documentation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8046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768096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2761"/>
                </a:solidFill>
              </a:defRPr>
            </a:pPr>
            <a:r>
              <a:t>📌 PLATFORM OVERVIEW:</a:t>
            </a:r>
          </a:p>
          <a:p>
            <a:pPr>
              <a:spcAft>
                <a:spcPts val="400"/>
              </a:spcAft>
              <a:defRPr sz="1200" b="1">
                <a:solidFill>
                  <a:srgbClr val="1E2761"/>
                </a:solidFill>
              </a:defRPr>
            </a:pPr>
            <a:r>
              <a:t>✓ Enterprise-grade job portal connecting job seekers, employers, and administrators</a:t>
            </a:r>
          </a:p>
          <a:p>
            <a:pPr>
              <a:spcAft>
                <a:spcPts val="1000"/>
              </a:spcAft>
              <a:defRPr sz="1100" b="0">
                <a:solidFill>
                  <a:srgbClr val="323232"/>
                </a:solidFill>
              </a:defRPr>
            </a:pPr>
            <a:r>
              <a:t>Secure, scalable platform for job discovery and recruitment</a:t>
            </a:r>
          </a:p>
          <a:p>
            <a:pPr>
              <a:spcAft>
                <a:spcPts val="600"/>
              </a:spcAft>
              <a:defRPr sz="1400" b="1">
                <a:solidFill>
                  <a:srgbClr val="1E2761"/>
                </a:solidFill>
              </a:defRPr>
            </a:pPr>
            <a:r>
              <a:t>📌 TECHNOLOGY FOUNDATION:</a:t>
            </a:r>
          </a:p>
          <a:p>
            <a:pPr>
              <a:spcAft>
                <a:spcPts val="400"/>
              </a:spcAft>
              <a:defRPr sz="1200" b="1">
                <a:solidFill>
                  <a:srgbClr val="1E2761"/>
                </a:solidFill>
              </a:defRPr>
            </a:pPr>
            <a:r>
              <a:t>✓ Built with modern Java technologies</a:t>
            </a:r>
          </a:p>
          <a:p>
            <a:pPr>
              <a:spcAft>
                <a:spcPts val="1000"/>
              </a:spcAft>
              <a:defRPr sz="1100" b="0">
                <a:solidFill>
                  <a:srgbClr val="323232"/>
                </a:solidFill>
              </a:defRPr>
            </a:pPr>
            <a:r>
              <a:t>Spring Boot, Spring Security, MySQL backend</a:t>
            </a:r>
          </a:p>
          <a:p>
            <a:pPr>
              <a:spcAft>
                <a:spcPts val="600"/>
              </a:spcAft>
              <a:defRPr sz="1400" b="1">
                <a:solidFill>
                  <a:srgbClr val="1E2761"/>
                </a:solidFill>
              </a:defRPr>
            </a:pPr>
            <a:r>
              <a:t>📌 KEY CAPABILITIES:</a:t>
            </a:r>
          </a:p>
          <a:p>
            <a:pPr>
              <a:spcAft>
                <a:spcPts val="400"/>
              </a:spcAft>
              <a:defRPr sz="1200" b="1">
                <a:solidFill>
                  <a:srgbClr val="1E2761"/>
                </a:solidFill>
              </a:defRPr>
            </a:pPr>
            <a:r>
              <a:t>✓ Comprehensive job discovery, application management, and recruitment administration</a:t>
            </a:r>
          </a:p>
          <a:p>
            <a:pPr>
              <a:spcAft>
                <a:spcPts val="800"/>
              </a:spcAft>
              <a:defRPr sz="1100" b="0">
                <a:solidFill>
                  <a:srgbClr val="323232"/>
                </a:solidFill>
              </a:defRPr>
            </a:pPr>
            <a:r>
              <a:t>Production-ready with focus on security, performance, and maintainability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8046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4206240"/>
              </a:tblGrid>
              <a:tr h="718457">
                <a:tc>
                  <a:txBody>
                    <a:bodyPr anchor="ctr" bIns="73152" tIns="73152"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anchor="ctr" bIns="73152" tIns="73152"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anchor="ctr" bIns="73152" tIns="73152"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718457">
                <a:tc>
                  <a:txBody>
                    <a:bodyPr wrap="square" anchor="ctr" bIns="54864" tIns="54864" lIns="73152" rIns="73152"/>
                    <a:lstStyle/>
                    <a:p>
                      <a:pPr algn="ctr">
                        <a:defRPr sz="1000" b="1">
                          <a:solidFill>
                            <a:srgbClr val="323232"/>
                          </a:solidFill>
                        </a:defRPr>
                      </a:pPr>
                      <a:r>
                        <a:t>Framework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bIns="54864" tIns="54864" lIns="73152" rIns="73152"/>
                    <a:lstStyle/>
                    <a:p>
                      <a:pPr algn="ctr">
                        <a:defRPr sz="1000" b="1">
                          <a:solidFill>
                            <a:srgbClr val="323232"/>
                          </a:solidFill>
                        </a:defRPr>
                      </a:pPr>
                      <a:r>
                        <a:t>Spring Boot 4.0.4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bIns="54864" tIns="54864" lIns="73152" rIns="73152"/>
                    <a:lstStyle/>
                    <a:p>
                      <a:pPr algn="l">
                        <a:defRPr sz="1000" b="1">
                          <a:solidFill>
                            <a:srgbClr val="323232"/>
                          </a:solidFill>
                        </a:defRPr>
                      </a:pPr>
                      <a:r>
                        <a:t>Application framework &amp; dependency management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 wrap="square" anchor="ctr" bIns="54864" tIns="54864" lIns="73152" rIns="73152"/>
                    <a:lstStyle/>
                    <a:p>
                      <a:pPr algn="ctr">
                        <a:defRPr sz="1000" b="1">
                          <a:solidFill>
                            <a:srgbClr val="323232"/>
                          </a:solidFill>
                        </a:defRPr>
                      </a:pPr>
                      <a:r>
                        <a:t>Language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 anchor="ctr" bIns="54864" tIns="54864" lIns="73152" rIns="73152"/>
                    <a:lstStyle/>
                    <a:p>
                      <a:pPr algn="ctr">
                        <a:defRPr sz="1000" b="1">
                          <a:solidFill>
                            <a:srgbClr val="323232"/>
                          </a:solidFill>
                        </a:defRPr>
                      </a:pPr>
                      <a:r>
                        <a:t>Java 21 LTS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 anchor="ctr" bIns="54864" tIns="54864" lIns="73152" rIns="73152"/>
                    <a:lstStyle/>
                    <a:p>
                      <a:pPr algn="l">
                        <a:defRPr sz="1000" b="1">
                          <a:solidFill>
                            <a:srgbClr val="323232"/>
                          </a:solidFill>
                        </a:defRPr>
                      </a:pPr>
                      <a:r>
                        <a:t>Core programming with latest features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718457">
                <a:tc>
                  <a:txBody>
                    <a:bodyPr wrap="square" anchor="ctr" bIns="54864" tIns="54864" lIns="73152" rIns="73152"/>
                    <a:lstStyle/>
                    <a:p>
                      <a:pPr algn="ctr">
                        <a:defRPr sz="1000" b="1">
                          <a:solidFill>
                            <a:srgbClr val="323232"/>
                          </a:solidFill>
                        </a:defRPr>
                      </a:pPr>
                      <a:r>
                        <a:t>Database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bIns="54864" tIns="54864" lIns="73152" rIns="73152"/>
                    <a:lstStyle/>
                    <a:p>
                      <a:pPr algn="ctr">
                        <a:defRPr sz="1000" b="1">
                          <a:solidFill>
                            <a:srgbClr val="323232"/>
                          </a:solidFill>
                        </a:defRPr>
                      </a:pPr>
                      <a:r>
                        <a:t>MySQL 8.0+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bIns="54864" tIns="54864" lIns="73152" rIns="73152"/>
                    <a:lstStyle/>
                    <a:p>
                      <a:pPr algn="l">
                        <a:defRPr sz="1000" b="1">
                          <a:solidFill>
                            <a:srgbClr val="323232"/>
                          </a:solidFill>
                        </a:defRPr>
                      </a:pPr>
                      <a:r>
                        <a:t>Persistent data storage with ACID compliance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 wrap="square" anchor="ctr" bIns="54864" tIns="54864" lIns="73152" rIns="73152"/>
                    <a:lstStyle/>
                    <a:p>
                      <a:pPr algn="ctr">
                        <a:defRPr sz="1000" b="1">
                          <a:solidFill>
                            <a:srgbClr val="323232"/>
                          </a:solidFill>
                        </a:defRPr>
                      </a:pPr>
                      <a:r>
                        <a:t>Authentication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 anchor="ctr" bIns="54864" tIns="54864" lIns="73152" rIns="73152"/>
                    <a:lstStyle/>
                    <a:p>
                      <a:pPr algn="ctr">
                        <a:defRPr sz="1000" b="1">
                          <a:solidFill>
                            <a:srgbClr val="323232"/>
                          </a:solidFill>
                        </a:defRPr>
                      </a:pPr>
                      <a:r>
                        <a:t>JWT + Spring Security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 anchor="ctr" bIns="54864" tIns="54864" lIns="73152" rIns="73152"/>
                    <a:lstStyle/>
                    <a:p>
                      <a:pPr algn="l">
                        <a:defRPr sz="1000" b="1">
                          <a:solidFill>
                            <a:srgbClr val="323232"/>
                          </a:solidFill>
                        </a:defRPr>
                      </a:pPr>
                      <a:r>
                        <a:t>Stateless security with RBAC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718457">
                <a:tc>
                  <a:txBody>
                    <a:bodyPr wrap="square" anchor="ctr" bIns="54864" tIns="54864" lIns="73152" rIns="73152"/>
                    <a:lstStyle/>
                    <a:p>
                      <a:pPr algn="ctr">
                        <a:defRPr sz="1000" b="1">
                          <a:solidFill>
                            <a:srgbClr val="323232"/>
                          </a:solidFill>
                        </a:defRPr>
                      </a:pPr>
                      <a:r>
                        <a:t>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bIns="54864" tIns="54864" lIns="73152" rIns="73152"/>
                    <a:lstStyle/>
                    <a:p>
                      <a:pPr algn="ctr">
                        <a:defRPr sz="1000" b="1">
                          <a:solidFill>
                            <a:srgbClr val="323232"/>
                          </a:solidFill>
                        </a:defRPr>
                      </a:pPr>
                      <a:r>
                        <a:t>Spring Data JPA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bIns="54864" tIns="54864" lIns="73152" rIns="73152"/>
                    <a:lstStyle/>
                    <a:p>
                      <a:pPr algn="l">
                        <a:defRPr sz="1000" b="1">
                          <a:solidFill>
                            <a:srgbClr val="323232"/>
                          </a:solidFill>
                        </a:defRPr>
                      </a:pPr>
                      <a:r>
                        <a:t>Object-relational mapping &amp; queries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8458">
                <a:tc>
                  <a:txBody>
                    <a:bodyPr wrap="square" anchor="ctr" bIns="54864" tIns="54864" lIns="73152" rIns="73152"/>
                    <a:lstStyle/>
                    <a:p>
                      <a:pPr algn="ctr">
                        <a:defRPr sz="1000" b="1">
                          <a:solidFill>
                            <a:srgbClr val="323232"/>
                          </a:solidFill>
                        </a:defRPr>
                      </a:pPr>
                      <a:r>
                        <a:t>Utilities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 anchor="ctr" bIns="54864" tIns="54864" lIns="73152" rIns="73152"/>
                    <a:lstStyle/>
                    <a:p>
                      <a:pPr algn="ctr">
                        <a:defRPr sz="1000" b="1">
                          <a:solidFill>
                            <a:srgbClr val="323232"/>
                          </a:solidFill>
                        </a:defRPr>
                      </a:pPr>
                      <a:r>
                        <a:t>Project Lombok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 anchor="ctr" bIns="54864" tIns="54864" lIns="73152" rIns="73152"/>
                    <a:lstStyle/>
                    <a:p>
                      <a:pPr algn="l">
                        <a:defRPr sz="1000" b="1">
                          <a:solidFill>
                            <a:srgbClr val="323232"/>
                          </a:solidFill>
                        </a:defRPr>
                      </a:pPr>
                      <a:r>
                        <a:t>Boilerplate code generation (40-50% reduction)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8046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Database Entity Relationship (ER) Diagram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645920" cy="1371600"/>
          </a:xfrm>
          <a:prstGeom prst="rect">
            <a:avLst/>
          </a:prstGeom>
          <a:solidFill>
            <a:srgbClr val="E6F0FA"/>
          </a:solidFill>
          <a:ln w="381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b="1" sz="1200">
                <a:solidFill>
                  <a:srgbClr val="1E2761"/>
                </a:solidFill>
              </a:defRPr>
            </a:pPr>
            <a:r>
              <a:t>USER</a:t>
            </a:r>
          </a:p>
          <a:p>
            <a:pPr>
              <a:defRPr sz="900" b="1">
                <a:solidFill>
                  <a:srgbClr val="323232"/>
                </a:solidFill>
              </a:defRPr>
            </a:pPr>
            <a:r>
              <a:t>• userId (PK)</a:t>
            </a:r>
          </a:p>
          <a:p>
            <a:pPr>
              <a:defRPr sz="900" b="1">
                <a:solidFill>
                  <a:srgbClr val="323232"/>
                </a:solidFill>
              </a:defRPr>
            </a:pPr>
            <a:r>
              <a:t>• email</a:t>
            </a:r>
          </a:p>
          <a:p>
            <a:pPr>
              <a:defRPr sz="900" b="1">
                <a:solidFill>
                  <a:srgbClr val="323232"/>
                </a:solidFill>
              </a:defRPr>
            </a:pPr>
            <a:r>
              <a:t>• password</a:t>
            </a:r>
          </a:p>
          <a:p>
            <a:pPr>
              <a:defRPr sz="900" b="1">
                <a:solidFill>
                  <a:srgbClr val="323232"/>
                </a:solidFill>
              </a:defRPr>
            </a:pPr>
            <a:r>
              <a:t>• role</a:t>
            </a:r>
          </a:p>
          <a:p>
            <a:pPr>
              <a:defRPr sz="900" b="1">
                <a:solidFill>
                  <a:srgbClr val="323232"/>
                </a:solidFill>
              </a:defRPr>
            </a:pPr>
            <a:r>
              <a:t>• createdAt</a:t>
            </a:r>
          </a:p>
        </p:txBody>
      </p:sp>
      <p:sp>
        <p:nvSpPr>
          <p:cNvPr id="6" name="Rectangle 5"/>
          <p:cNvSpPr/>
          <p:nvPr/>
        </p:nvSpPr>
        <p:spPr>
          <a:xfrm>
            <a:off x="3749039" y="1371600"/>
            <a:ext cx="1645920" cy="1371600"/>
          </a:xfrm>
          <a:prstGeom prst="rect">
            <a:avLst/>
          </a:prstGeom>
          <a:solidFill>
            <a:srgbClr val="F0FAF0"/>
          </a:solidFill>
          <a:ln w="381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b="1" sz="1200">
                <a:solidFill>
                  <a:srgbClr val="028090"/>
                </a:solidFill>
              </a:defRPr>
            </a:pPr>
            <a:r>
              <a:t>JOB_POSTING</a:t>
            </a:r>
          </a:p>
          <a:p>
            <a:pPr>
              <a:defRPr sz="900" b="1">
                <a:solidFill>
                  <a:srgbClr val="323232"/>
                </a:solidFill>
              </a:defRPr>
            </a:pPr>
            <a:r>
              <a:t>• jobId (PK)</a:t>
            </a:r>
          </a:p>
          <a:p>
            <a:pPr>
              <a:defRPr sz="900" b="1">
                <a:solidFill>
                  <a:srgbClr val="323232"/>
                </a:solidFill>
              </a:defRPr>
            </a:pPr>
            <a:r>
              <a:t>• title</a:t>
            </a:r>
          </a:p>
          <a:p>
            <a:pPr>
              <a:defRPr sz="900" b="1">
                <a:solidFill>
                  <a:srgbClr val="323232"/>
                </a:solidFill>
              </a:defRPr>
            </a:pPr>
            <a:r>
              <a:t>• description</a:t>
            </a:r>
          </a:p>
          <a:p>
            <a:pPr>
              <a:defRPr sz="900" b="1">
                <a:solidFill>
                  <a:srgbClr val="323232"/>
                </a:solidFill>
              </a:defRPr>
            </a:pPr>
            <a:r>
              <a:t>• salary</a:t>
            </a:r>
          </a:p>
          <a:p>
            <a:pPr>
              <a:defRPr sz="900" b="1">
                <a:solidFill>
                  <a:srgbClr val="323232"/>
                </a:solidFill>
              </a:defRPr>
            </a:pPr>
            <a:r>
              <a:t>• location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040880" y="1371600"/>
            <a:ext cx="1645920" cy="1371600"/>
          </a:xfrm>
          <a:prstGeom prst="rect">
            <a:avLst/>
          </a:prstGeom>
          <a:solidFill>
            <a:srgbClr val="FAF5E6"/>
          </a:solidFill>
          <a:ln w="38100">
            <a:solidFill>
              <a:srgbClr val="F9B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b="1" sz="1200">
                <a:solidFill>
                  <a:srgbClr val="C86400"/>
                </a:solidFill>
              </a:defRPr>
            </a:pPr>
            <a:r>
              <a:t>APPLICATION</a:t>
            </a:r>
          </a:p>
          <a:p>
            <a:pPr>
              <a:defRPr sz="900" b="1">
                <a:solidFill>
                  <a:srgbClr val="323232"/>
                </a:solidFill>
              </a:defRPr>
            </a:pPr>
            <a:r>
              <a:t>• appId (PK)</a:t>
            </a:r>
          </a:p>
          <a:p>
            <a:pPr>
              <a:defRPr sz="900" b="1">
                <a:solidFill>
                  <a:srgbClr val="323232"/>
                </a:solidFill>
              </a:defRPr>
            </a:pPr>
            <a:r>
              <a:t>• userId (FK)</a:t>
            </a:r>
          </a:p>
          <a:p>
            <a:pPr>
              <a:defRPr sz="900" b="1">
                <a:solidFill>
                  <a:srgbClr val="323232"/>
                </a:solidFill>
              </a:defRPr>
            </a:pPr>
            <a:r>
              <a:t>• jobId (FK)</a:t>
            </a:r>
          </a:p>
          <a:p>
            <a:pPr>
              <a:defRPr sz="900" b="1">
                <a:solidFill>
                  <a:srgbClr val="323232"/>
                </a:solidFill>
              </a:defRPr>
            </a:pPr>
            <a:r>
              <a:t>• status</a:t>
            </a:r>
          </a:p>
          <a:p>
            <a:pPr>
              <a:defRPr sz="900" b="1">
                <a:solidFill>
                  <a:srgbClr val="323232"/>
                </a:solidFill>
              </a:defRPr>
            </a:pPr>
            <a:r>
              <a:t>• appliedAt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03120" y="2011680"/>
            <a:ext cx="4937760" cy="0"/>
          </a:xfrm>
          <a:prstGeom prst="line">
            <a:avLst/>
          </a:prstGeom>
          <a:ln w="25400">
            <a:solidFill>
              <a:srgbClr val="1E27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394960" y="2011680"/>
            <a:ext cx="1645920" cy="0"/>
          </a:xfrm>
          <a:prstGeom prst="line">
            <a:avLst/>
          </a:prstGeom>
          <a:ln w="25400">
            <a:solidFill>
              <a:srgbClr val="028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114800" y="17373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E2761"/>
                </a:solidFill>
              </a:defRPr>
            </a:pPr>
            <a:r>
              <a:t>1:N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17520"/>
            <a:ext cx="82296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300">
                <a:solidFill>
                  <a:srgbClr val="1E2761"/>
                </a:solidFill>
              </a:defRPr>
            </a:pPr>
            <a:r>
              <a:t>KEY RELATIONSHIPS &amp; CONSTRAINTS:</a:t>
            </a:r>
          </a:p>
          <a:p>
            <a:pPr>
              <a:spcAft>
                <a:spcPts val="600"/>
              </a:spcAft>
              <a:defRPr sz="1000">
                <a:solidFill>
                  <a:srgbClr val="323232"/>
                </a:solidFill>
              </a:defRPr>
            </a:pPr>
            <a:r>
              <a:rPr b="1" sz="1100">
                <a:solidFill>
                  <a:srgbClr val="1E2761"/>
                </a:solidFill>
              </a:rPr>
              <a:t>• USER TABLE: Stores job seekers and employers with role-based distinction</a:t>
            </a:r>
          </a:p>
          <a:p>
            <a:pPr>
              <a:spcAft>
                <a:spcPts val="600"/>
              </a:spcAft>
              <a:defRPr sz="1000">
                <a:solidFill>
                  <a:srgbClr val="323232"/>
                </a:solidFill>
              </a:defRPr>
            </a:pPr>
            <a:r>
              <a:rPr b="1" sz="1100">
                <a:solidFill>
                  <a:srgbClr val="028090"/>
                </a:solidFill>
              </a:rPr>
              <a:t>• JOB_POSTING TABLE: Contains all active and archived job listings with metadata</a:t>
            </a:r>
          </a:p>
          <a:p>
            <a:pPr>
              <a:spcAft>
                <a:spcPts val="600"/>
              </a:spcAft>
              <a:defRPr sz="1000">
                <a:solidFill>
                  <a:srgbClr val="323232"/>
                </a:solidFill>
              </a:defRPr>
            </a:pPr>
            <a:r>
              <a:rPr b="1" sz="1100">
                <a:solidFill>
                  <a:srgbClr val="C86400"/>
                </a:solidFill>
              </a:rPr>
              <a:t>• APPLICATION TABLE: Junction table linking users to job postings</a:t>
            </a:r>
          </a:p>
          <a:p>
            <a:pPr>
              <a:spcAft>
                <a:spcPts val="600"/>
              </a:spcAft>
              <a:defRPr sz="1000">
                <a:solidFill>
                  <a:srgbClr val="323232"/>
                </a:solidFill>
              </a:defRPr>
            </a:pPr>
            <a:r>
              <a:rPr b="1" sz="1100">
                <a:solidFill>
                  <a:srgbClr val="1E2761"/>
                </a:solidFill>
              </a:rPr>
              <a:t>• Referential Integrity: Foreign keys ensure data consistency across relationships</a:t>
            </a:r>
          </a:p>
          <a:p>
            <a:pPr>
              <a:spcAft>
                <a:spcPts val="600"/>
              </a:spcAft>
              <a:defRPr sz="1000">
                <a:solidFill>
                  <a:srgbClr val="323232"/>
                </a:solidFill>
              </a:defRPr>
            </a:pPr>
            <a:r>
              <a:rPr b="1" sz="1100">
                <a:solidFill>
                  <a:srgbClr val="028090"/>
                </a:solidFill>
              </a:rPr>
              <a:t>• Cascade Rules: Delete operations properly handle dependent records</a:t>
            </a:r>
          </a:p>
          <a:p>
            <a:pPr>
              <a:spcAft>
                <a:spcPts val="600"/>
              </a:spcAft>
              <a:defRPr sz="1000">
                <a:solidFill>
                  <a:srgbClr val="323232"/>
                </a:solidFill>
              </a:defRPr>
            </a:pPr>
            <a:r>
              <a:rPr b="1" sz="1100">
                <a:solidFill>
                  <a:srgbClr val="C86400"/>
                </a:solidFill>
              </a:rPr>
              <a:t>• Indexes: Optimized queries on userId, jobId, and status fields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8046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Key Features &amp; Capabilities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2926080" cy="36576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554480"/>
            <a:ext cx="3017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E2761"/>
                </a:solidFill>
              </a:defRPr>
            </a:pPr>
            <a:r>
              <a:t>• JWT Token Authentication</a:t>
            </a:r>
          </a:p>
          <a:p>
            <a:pPr>
              <a:spcAft>
                <a:spcPts val="1000"/>
              </a:spcAft>
              <a:defRPr sz="1100" b="1">
                <a:solidFill>
                  <a:srgbClr val="1E2761"/>
                </a:solidFill>
              </a:defRPr>
            </a:pPr>
            <a:r>
              <a:t>• Spring Security Framework</a:t>
            </a:r>
          </a:p>
          <a:p>
            <a:pPr>
              <a:spcAft>
                <a:spcPts val="1000"/>
              </a:spcAft>
              <a:defRPr sz="1100" b="1">
                <a:solidFill>
                  <a:srgbClr val="1E2761"/>
                </a:solidFill>
              </a:defRPr>
            </a:pPr>
            <a:r>
              <a:t>• Role-Based Access Control (RBAC)</a:t>
            </a:r>
          </a:p>
          <a:p>
            <a:pPr>
              <a:spcAft>
                <a:spcPts val="1000"/>
              </a:spcAft>
              <a:defRPr sz="1100" b="0">
                <a:solidFill>
                  <a:srgbClr val="323232"/>
                </a:solidFill>
              </a:defRPr>
            </a:pPr>
            <a:r>
              <a:t>• Method-Level Security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79" y="1097280"/>
            <a:ext cx="2926080" cy="36576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DATA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1554480"/>
            <a:ext cx="3017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28090"/>
                </a:solidFill>
              </a:defRPr>
            </a:pPr>
            <a:r>
              <a:t>• JPA ORM Layer</a:t>
            </a:r>
          </a:p>
          <a:p>
            <a:pPr>
              <a:spcAft>
                <a:spcPts val="1000"/>
              </a:spcAft>
              <a:defRPr sz="1100" b="1">
                <a:solidFill>
                  <a:srgbClr val="028090"/>
                </a:solidFill>
              </a:defRPr>
            </a:pPr>
            <a:r>
              <a:t>• MySQL Backend</a:t>
            </a:r>
          </a:p>
          <a:p>
            <a:pPr>
              <a:spcAft>
                <a:spcPts val="1000"/>
              </a:spcAft>
              <a:defRPr sz="1100" b="1">
                <a:solidFill>
                  <a:srgbClr val="028090"/>
                </a:solidFill>
              </a:defRPr>
            </a:pPr>
            <a:r>
              <a:t>• ACID Compliance</a:t>
            </a:r>
          </a:p>
          <a:p>
            <a:pPr>
              <a:spcAft>
                <a:spcPts val="1000"/>
              </a:spcAft>
              <a:defRPr sz="1100" b="0">
                <a:solidFill>
                  <a:srgbClr val="323232"/>
                </a:solidFill>
              </a:defRPr>
            </a:pPr>
            <a:r>
              <a:t>• Query Optimization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577840" y="1097280"/>
            <a:ext cx="2926080" cy="365760"/>
          </a:xfrm>
          <a:prstGeom prst="rect">
            <a:avLst/>
          </a:prstGeom>
          <a:solidFill>
            <a:srgbClr val="2ECC71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RELIABILITY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23560" y="1554480"/>
            <a:ext cx="3017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2ECC71"/>
                </a:solidFill>
              </a:defRPr>
            </a:pPr>
            <a:r>
              <a:t>• Comprehensive Input Validation</a:t>
            </a:r>
          </a:p>
          <a:p>
            <a:pPr>
              <a:spcAft>
                <a:spcPts val="1000"/>
              </a:spcAft>
              <a:defRPr sz="1100" b="1">
                <a:solidFill>
                  <a:srgbClr val="2ECC71"/>
                </a:solidFill>
              </a:defRPr>
            </a:pPr>
            <a:r>
              <a:t>• RESTful API</a:t>
            </a:r>
          </a:p>
          <a:p>
            <a:pPr>
              <a:spcAft>
                <a:spcPts val="1000"/>
              </a:spcAft>
              <a:defRPr sz="1100" b="1">
                <a:solidFill>
                  <a:srgbClr val="2ECC71"/>
                </a:solidFill>
              </a:defRPr>
            </a:pPr>
            <a:r>
              <a:t>• Error Handling</a:t>
            </a:r>
          </a:p>
          <a:p>
            <a:pPr>
              <a:spcAft>
                <a:spcPts val="1000"/>
              </a:spcAft>
              <a:defRPr sz="1100" b="0">
                <a:solidFill>
                  <a:srgbClr val="323232"/>
                </a:solidFill>
              </a:defRPr>
            </a:pPr>
            <a:r>
              <a:t>• Extensive Test Coverage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8046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Layered Architecture Pattern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1188720"/>
            <a:ext cx="2926080" cy="731520"/>
          </a:xfrm>
          <a:prstGeom prst="rect">
            <a:avLst/>
          </a:prstGeom>
          <a:solidFill>
            <a:srgbClr val="1E2761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Controller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188720"/>
            <a:ext cx="4389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1E2761"/>
                </a:solidFill>
              </a:defRPr>
            </a:pPr>
            <a:r>
              <a:t>HTTP Requests &amp; REST Endpoints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2148840"/>
            <a:ext cx="2926080" cy="731520"/>
          </a:xfrm>
          <a:prstGeom prst="rect">
            <a:avLst/>
          </a:prstGeom>
          <a:solidFill>
            <a:srgbClr val="028090"/>
          </a:solidFill>
          <a:ln w="254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Service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2148840"/>
            <a:ext cx="4389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028090"/>
                </a:solidFill>
              </a:defRPr>
            </a:pPr>
            <a:r>
              <a:t>Business Logic &amp; Access Control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3108960"/>
            <a:ext cx="2926080" cy="731520"/>
          </a:xfrm>
          <a:prstGeom prst="rect">
            <a:avLst/>
          </a:prstGeom>
          <a:solidFill>
            <a:srgbClr val="3498DB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Data Access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3108960"/>
            <a:ext cx="4389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3498DB"/>
                </a:solidFill>
              </a:defRPr>
            </a:pPr>
            <a:r>
              <a:t>JPA Repositories &amp; Queries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88720" y="4069080"/>
            <a:ext cx="2926080" cy="731520"/>
          </a:xfrm>
          <a:prstGeom prst="rect">
            <a:avLst/>
          </a:prstGeom>
          <a:solidFill>
            <a:srgbClr val="9B59B6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Domain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4069080"/>
            <a:ext cx="4389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9B59B6"/>
                </a:solidFill>
              </a:defRPr>
            </a:pPr>
            <a:r>
              <a:t>Entity Classes &amp; Relationships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8720" y="5029200"/>
            <a:ext cx="2926080" cy="731520"/>
          </a:xfrm>
          <a:prstGeom prst="rect">
            <a:avLst/>
          </a:prstGeom>
          <a:solidFill>
            <a:srgbClr val="E67E22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5029200"/>
            <a:ext cx="4389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E67E22"/>
                </a:solidFill>
              </a:defRPr>
            </a:pPr>
            <a:r>
              <a:t>MySQL Persistent Storage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8046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Primary Use Cases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2560320" cy="32004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FOR JOB SEEKERS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463040"/>
            <a:ext cx="27432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1E2761"/>
                </a:solidFill>
              </a:defRPr>
            </a:pPr>
            <a:r>
              <a:t>✓ Browse &amp; search job positions</a:t>
            </a:r>
          </a:p>
          <a:p>
            <a:pPr>
              <a:spcAft>
                <a:spcPts val="800"/>
              </a:spcAft>
              <a:defRPr sz="1000" b="0">
                <a:solidFill>
                  <a:srgbClr val="323232"/>
                </a:solidFill>
              </a:defRPr>
            </a:pPr>
            <a:r>
              <a:t>✓ Filter by location, industry, salary</a:t>
            </a:r>
          </a:p>
          <a:p>
            <a:pPr>
              <a:spcAft>
                <a:spcPts val="800"/>
              </a:spcAft>
              <a:defRPr sz="1000" b="1">
                <a:solidFill>
                  <a:srgbClr val="1E2761"/>
                </a:solidFill>
              </a:defRPr>
            </a:pPr>
            <a:r>
              <a:t>✓ Submit applications with resume</a:t>
            </a:r>
          </a:p>
          <a:p>
            <a:pPr>
              <a:spcAft>
                <a:spcPts val="800"/>
              </a:spcAft>
              <a:defRPr sz="1000" b="0">
                <a:solidFill>
                  <a:srgbClr val="323232"/>
                </a:solidFill>
              </a:defRPr>
            </a:pPr>
            <a:r>
              <a:t>✓ Track application status</a:t>
            </a:r>
          </a:p>
          <a:p>
            <a:pPr>
              <a:spcAft>
                <a:spcPts val="800"/>
              </a:spcAft>
              <a:defRPr sz="1000" b="1">
                <a:solidFill>
                  <a:srgbClr val="1E2761"/>
                </a:solidFill>
              </a:defRPr>
            </a:pPr>
            <a:r>
              <a:t>✓ Manage profile &amp; preferences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8960" y="1051560"/>
            <a:ext cx="2560320" cy="32004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FOR EMPLOYERS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463040"/>
            <a:ext cx="27432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28090"/>
                </a:solidFill>
              </a:defRPr>
            </a:pPr>
            <a:r>
              <a:t>✓ Post &amp; manage job listings</a:t>
            </a:r>
          </a:p>
          <a:p>
            <a:pPr>
              <a:spcAft>
                <a:spcPts val="800"/>
              </a:spcAft>
              <a:defRPr sz="1000" b="0">
                <a:solidFill>
                  <a:srgbClr val="323232"/>
                </a:solidFill>
              </a:defRPr>
            </a:pPr>
            <a:r>
              <a:t>✓ Review candidate applications</a:t>
            </a:r>
          </a:p>
          <a:p>
            <a:pPr>
              <a:spcAft>
                <a:spcPts val="800"/>
              </a:spcAft>
              <a:defRPr sz="1000" b="1">
                <a:solidFill>
                  <a:srgbClr val="028090"/>
                </a:solidFill>
              </a:defRPr>
            </a:pPr>
            <a:r>
              <a:t>✓ Filter by qualifications</a:t>
            </a:r>
          </a:p>
          <a:p>
            <a:pPr>
              <a:spcAft>
                <a:spcPts val="800"/>
              </a:spcAft>
              <a:defRPr sz="1000" b="0">
                <a:solidFill>
                  <a:srgbClr val="323232"/>
                </a:solidFill>
              </a:defRPr>
            </a:pPr>
            <a:r>
              <a:t>✓ Communicate with applicants</a:t>
            </a:r>
          </a:p>
          <a:p>
            <a:pPr>
              <a:spcAft>
                <a:spcPts val="800"/>
              </a:spcAft>
              <a:defRPr sz="1000" b="1">
                <a:solidFill>
                  <a:srgbClr val="028090"/>
                </a:solidFill>
              </a:defRPr>
            </a:pPr>
            <a:r>
              <a:t>✓ Manage posting lifecycle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720" y="1051560"/>
            <a:ext cx="2560320" cy="320040"/>
          </a:xfrm>
          <a:prstGeom prst="rect">
            <a:avLst/>
          </a:prstGeom>
          <a:solidFill>
            <a:srgbClr val="2ECC71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FOR ADMINS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1463040"/>
            <a:ext cx="27432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2ECC71"/>
                </a:solidFill>
              </a:defRPr>
            </a:pPr>
            <a:r>
              <a:t>✓ Manage user accounts &amp; roles</a:t>
            </a:r>
          </a:p>
          <a:p>
            <a:pPr>
              <a:spcAft>
                <a:spcPts val="800"/>
              </a:spcAft>
              <a:defRPr sz="1000" b="0">
                <a:solidFill>
                  <a:srgbClr val="323232"/>
                </a:solidFill>
              </a:defRPr>
            </a:pPr>
            <a:r>
              <a:t>✓ Moderate job postings</a:t>
            </a:r>
          </a:p>
          <a:p>
            <a:pPr>
              <a:spcAft>
                <a:spcPts val="800"/>
              </a:spcAft>
              <a:defRPr sz="1000" b="1">
                <a:solidFill>
                  <a:srgbClr val="2ECC71"/>
                </a:solidFill>
              </a:defRPr>
            </a:pPr>
            <a:r>
              <a:t>✓ System-wide configurations</a:t>
            </a:r>
          </a:p>
          <a:p>
            <a:pPr>
              <a:spcAft>
                <a:spcPts val="800"/>
              </a:spcAft>
              <a:defRPr sz="1000" b="0">
                <a:solidFill>
                  <a:srgbClr val="323232"/>
                </a:solidFill>
              </a:defRPr>
            </a:pPr>
            <a:r>
              <a:t>✓ View analytics &amp; reports</a:t>
            </a:r>
          </a:p>
          <a:p>
            <a:pPr>
              <a:spcAft>
                <a:spcPts val="800"/>
              </a:spcAft>
              <a:defRPr sz="1000" b="1">
                <a:solidFill>
                  <a:srgbClr val="2ECC71"/>
                </a:solidFill>
              </a:defRPr>
            </a:pPr>
            <a:r>
              <a:t>✓ Handle disputes &amp; complaints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8046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System Requirements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2011680" cy="77724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RUNTIME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1143000"/>
            <a:ext cx="6126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1E2761"/>
                </a:solidFill>
              </a:defRPr>
            </a:pPr>
            <a:r>
              <a:t>Java 21 LTS or higher with proper JAVA_HOME configuration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2011680" cy="77724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DATABASE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2103120"/>
            <a:ext cx="6126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028090"/>
                </a:solidFill>
              </a:defRPr>
            </a:pPr>
            <a:r>
              <a:t>MySQL 8.0 or higher with TCP/IP connectivity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063240"/>
            <a:ext cx="2011680" cy="777240"/>
          </a:xfrm>
          <a:prstGeom prst="rect">
            <a:avLst/>
          </a:prstGeom>
          <a:solidFill>
            <a:srgbClr val="3498DB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MEMORY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3063240"/>
            <a:ext cx="6126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3498DB"/>
                </a:solidFill>
              </a:defRPr>
            </a:pPr>
            <a:r>
              <a:t>Minimum 512MB RAM | Recommended 2GB for production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023360"/>
            <a:ext cx="2011680" cy="777240"/>
          </a:xfrm>
          <a:prstGeom prst="rect">
            <a:avLst/>
          </a:prstGeom>
          <a:solidFill>
            <a:srgbClr val="9B59B6"/>
          </a:solidFill>
          <a:ln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STORAGE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4023360"/>
            <a:ext cx="6126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9B59B6"/>
                </a:solidFill>
              </a:defRPr>
            </a:pPr>
            <a:r>
              <a:t>Minimum 500MB free disk space for application and logs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983480"/>
            <a:ext cx="2011680" cy="777240"/>
          </a:xfrm>
          <a:prstGeom prst="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NETWORK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4983480"/>
            <a:ext cx="6126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E67E22"/>
                </a:solidFill>
              </a:defRPr>
            </a:pPr>
            <a:r>
              <a:t>Internet connectivity for Maven dependency resolution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28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ENTERPRISE-READY JOB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CADCFC"/>
                </a:solidFill>
              </a:defRPr>
            </a:pPr>
            <a:r>
              <a:t>Scalable • Secure • Production-Ready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4864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ADCFC"/>
                </a:solidFill>
              </a:defRPr>
            </a:pPr>
            <a:r>
              <a:t>✓ Modern Tech Stack  |  ✓ Comprehensive Security  |  ✓ Scalable Architecture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